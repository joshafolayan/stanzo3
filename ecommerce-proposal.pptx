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Click to edit the notes' format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4F9C02-4A5A-43D5-8256-A43A2EBC8820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00BD32-A911-4AA5-B031-7EC33A6E4E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D13159-2298-4BBE-8091-28FDC6945E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06E56F-DD06-464D-A70D-609FA747CC1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B28C65-C05C-406E-BC12-4367E5649E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FE4F4D-03FA-417E-8747-C4B481B476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06277B-58F6-4629-8008-F1F7C39314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GB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380880" y="571680"/>
            <a:ext cx="536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STANZOE3  E - Store</a:t>
            </a:r>
            <a:endParaRPr b="0" lang="en-GB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380880" y="1143000"/>
            <a:ext cx="8549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4fc3f7"/>
                </a:solidFill>
                <a:latin typeface="Arial"/>
                <a:ea typeface="Arial"/>
              </a:rPr>
              <a:t>Modern online shopping for bags, shoes &amp; more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80880" y="2560320"/>
            <a:ext cx="2662560" cy="11804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33520" y="2712960"/>
            <a:ext cx="380520" cy="38052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33520" y="3170160"/>
            <a:ext cx="2404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37e"/>
                </a:solidFill>
                <a:latin typeface="Arial"/>
                <a:ea typeface="Arial"/>
              </a:rPr>
              <a:t>Product Variants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33520" y="3429000"/>
            <a:ext cx="24048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Multiple colors and sizes for each product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3272400" y="2560320"/>
            <a:ext cx="2618280" cy="11804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424680" y="2712960"/>
            <a:ext cx="380520" cy="38052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Text 8"/>
          <p:cNvSpPr/>
          <p:nvPr/>
        </p:nvSpPr>
        <p:spPr>
          <a:xfrm>
            <a:off x="3424680" y="3170160"/>
            <a:ext cx="235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37e"/>
                </a:solidFill>
                <a:latin typeface="Arial"/>
                <a:ea typeface="Arial"/>
              </a:rPr>
              <a:t>Simple Payment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3424680" y="3429000"/>
            <a:ext cx="23598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Bank transfer with account details popup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119640" y="2560320"/>
            <a:ext cx="2643120" cy="11804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271920" y="2712960"/>
            <a:ext cx="380520" cy="380520"/>
          </a:xfrm>
          <a:prstGeom prst="roundRect">
            <a:avLst>
              <a:gd name="adj" fmla="val 20000"/>
            </a:avLst>
          </a:prstGeom>
          <a:solidFill>
            <a:srgbClr val="48b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271920" y="3170160"/>
            <a:ext cx="2385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37e"/>
                </a:solidFill>
                <a:latin typeface="Arial"/>
                <a:ea typeface="Arial"/>
              </a:rPr>
              <a:t>WhatsApp Contact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6271920" y="3429000"/>
            <a:ext cx="23850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Direct chat to confirm payment &amp; delivery</a:t>
            </a:r>
            <a:endParaRPr b="0" lang="en-GB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Image 0" descr="/tmp/rasterized-gradient-84c7d835.png"/>
          <p:cNvPicPr/>
          <p:nvPr/>
        </p:nvPicPr>
        <p:blipFill>
          <a:blip r:embed="rId1"/>
          <a:stretch/>
        </p:blipFill>
        <p:spPr>
          <a:xfrm>
            <a:off x="380880" y="3931920"/>
            <a:ext cx="8381520" cy="594000"/>
          </a:xfrm>
          <a:prstGeom prst="rect">
            <a:avLst/>
          </a:prstGeom>
          <a:ln w="0">
            <a:noFill/>
          </a:ln>
        </p:spPr>
      </p:pic>
      <p:sp>
        <p:nvSpPr>
          <p:cNvPr id="23" name="Text 14"/>
          <p:cNvSpPr/>
          <p:nvPr/>
        </p:nvSpPr>
        <p:spPr>
          <a:xfrm>
            <a:off x="491400" y="4122360"/>
            <a:ext cx="81608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Let's build your perfect online store →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380880" y="4781520"/>
            <a:ext cx="1909440" cy="9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</a:rPr>
              <a:t>Proposal for [Stanzo3] | January 2025</a:t>
            </a:r>
            <a:endParaRPr b="0" lang="en-GB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380880" y="647640"/>
            <a:ext cx="5391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a237e"/>
                </a:solidFill>
                <a:latin typeface="Arial"/>
                <a:ea typeface="Arial"/>
              </a:rPr>
              <a:t>Product Showcase with Variants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380880" y="1149120"/>
            <a:ext cx="3668760" cy="3798000"/>
          </a:xfrm>
          <a:prstGeom prst="roundRect">
            <a:avLst>
              <a:gd name="adj" fmla="val 2077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 2"/>
          <p:cNvSpPr/>
          <p:nvPr/>
        </p:nvSpPr>
        <p:spPr>
          <a:xfrm>
            <a:off x="533520" y="1301400"/>
            <a:ext cx="3363840" cy="17143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Text 3"/>
          <p:cNvSpPr/>
          <p:nvPr/>
        </p:nvSpPr>
        <p:spPr>
          <a:xfrm>
            <a:off x="533520" y="3130200"/>
            <a:ext cx="34311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2d3748"/>
                </a:solidFill>
                <a:latin typeface="Arial"/>
                <a:ea typeface="Arial"/>
              </a:rPr>
              <a:t>Classic Leather Bag</a:t>
            </a:r>
            <a:endParaRPr b="0" lang="en-GB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533520" y="3393000"/>
            <a:ext cx="343116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980" spc="-1" strike="noStrike">
                <a:solidFill>
                  <a:srgbClr val="718096"/>
                </a:solidFill>
                <a:latin typeface="Arial"/>
                <a:ea typeface="Arial"/>
              </a:rPr>
              <a:t>Premium quality, handcrafted design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533520" y="3680640"/>
            <a:ext cx="343116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900" spc="-1" strike="noStrike">
                <a:solidFill>
                  <a:srgbClr val="2d3748"/>
                </a:solidFill>
                <a:latin typeface="Arial"/>
                <a:ea typeface="Arial"/>
              </a:rPr>
              <a:t>Available Colors: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533520" y="3897720"/>
            <a:ext cx="304560" cy="304560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Text 7"/>
          <p:cNvSpPr/>
          <p:nvPr/>
        </p:nvSpPr>
        <p:spPr>
          <a:xfrm>
            <a:off x="914400" y="3897720"/>
            <a:ext cx="304560" cy="304560"/>
          </a:xfrm>
          <a:prstGeom prst="roundRect">
            <a:avLst>
              <a:gd name="adj" fmla="val 18750"/>
            </a:avLst>
          </a:prstGeom>
          <a:solidFill>
            <a:srgbClr val="8b4513"/>
          </a:solidFill>
          <a:ln w="190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Text 8"/>
          <p:cNvSpPr/>
          <p:nvPr/>
        </p:nvSpPr>
        <p:spPr>
          <a:xfrm>
            <a:off x="1295280" y="3897720"/>
            <a:ext cx="304560" cy="304560"/>
          </a:xfrm>
          <a:prstGeom prst="roundRect">
            <a:avLst>
              <a:gd name="adj" fmla="val 18750"/>
            </a:avLst>
          </a:prstGeom>
          <a:solidFill>
            <a:srgbClr val="dc143c"/>
          </a:solidFill>
          <a:ln w="190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Text 9"/>
          <p:cNvSpPr/>
          <p:nvPr/>
        </p:nvSpPr>
        <p:spPr>
          <a:xfrm>
            <a:off x="1676520" y="3897720"/>
            <a:ext cx="304560" cy="304560"/>
          </a:xfrm>
          <a:prstGeom prst="roundRect">
            <a:avLst>
              <a:gd name="adj" fmla="val 18750"/>
            </a:avLst>
          </a:prstGeom>
          <a:solidFill>
            <a:srgbClr val="1a237e"/>
          </a:solidFill>
          <a:ln w="190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533520" y="4316760"/>
            <a:ext cx="343116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900" spc="-1" strike="noStrike">
                <a:solidFill>
                  <a:srgbClr val="2d3748"/>
                </a:solidFill>
                <a:latin typeface="Arial"/>
                <a:ea typeface="Arial"/>
              </a:rPr>
              <a:t>Available Sizes: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533520" y="4497840"/>
            <a:ext cx="507960" cy="260640"/>
          </a:xfrm>
          <a:prstGeom prst="roundRect">
            <a:avLst>
              <a:gd name="adj" fmla="val 14604"/>
            </a:avLst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647640" y="4591080"/>
            <a:ext cx="28476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ffffff"/>
                </a:solidFill>
                <a:latin typeface="Arial"/>
                <a:ea typeface="Arial"/>
              </a:rPr>
              <a:t>Small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1117800" y="4497840"/>
            <a:ext cx="600840" cy="260640"/>
          </a:xfrm>
          <a:prstGeom prst="roundRect">
            <a:avLst>
              <a:gd name="adj" fmla="val 14604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1232280" y="4591080"/>
            <a:ext cx="3798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Medium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1795320" y="4497840"/>
            <a:ext cx="496440" cy="260640"/>
          </a:xfrm>
          <a:prstGeom prst="roundRect">
            <a:avLst>
              <a:gd name="adj" fmla="val 14604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1909440" y="4591080"/>
            <a:ext cx="2728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Large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Image 0" descr="/tmp/rasterized-gradient-78ac5c6c.png"/>
          <p:cNvPicPr/>
          <p:nvPr/>
        </p:nvPicPr>
        <p:blipFill>
          <a:blip r:embed="rId1"/>
          <a:stretch/>
        </p:blipFill>
        <p:spPr>
          <a:xfrm>
            <a:off x="4278600" y="1766880"/>
            <a:ext cx="4484160" cy="504360"/>
          </a:xfrm>
          <a:prstGeom prst="rect">
            <a:avLst/>
          </a:prstGeom>
          <a:ln w="0">
            <a:noFill/>
          </a:ln>
        </p:spPr>
      </p:pic>
      <p:sp>
        <p:nvSpPr>
          <p:cNvPr id="43" name="Text 17"/>
          <p:cNvSpPr/>
          <p:nvPr/>
        </p:nvSpPr>
        <p:spPr>
          <a:xfrm>
            <a:off x="4431240" y="1919160"/>
            <a:ext cx="42627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ffffff"/>
                </a:solidFill>
                <a:latin typeface="Arial"/>
                <a:ea typeface="Arial"/>
              </a:rPr>
              <a:t>✨ </a:t>
            </a:r>
            <a:r>
              <a:rPr b="1" lang="en-US" sz="1130" spc="-1" strike="noStrike">
                <a:solidFill>
                  <a:srgbClr val="ffffff"/>
                </a:solidFill>
                <a:latin typeface="Arial"/>
                <a:ea typeface="Arial"/>
              </a:rPr>
              <a:t>Flexible Product System</a:t>
            </a:r>
            <a:endParaRPr b="0" lang="en-GB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4278600" y="2405160"/>
            <a:ext cx="56880" cy="38052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4412160" y="2405160"/>
            <a:ext cx="4437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Multiple Color Options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4412160" y="2595600"/>
            <a:ext cx="44377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Each product can have unlimited color variants with visual color swatches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4278600" y="2919240"/>
            <a:ext cx="56880" cy="38052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4412160" y="2919240"/>
            <a:ext cx="4437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Size Variations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3"/>
          <p:cNvSpPr/>
          <p:nvPr/>
        </p:nvSpPr>
        <p:spPr>
          <a:xfrm>
            <a:off x="4412160" y="3110040"/>
            <a:ext cx="44377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Flexible sizing system for bags (S/M/L) and shoes (EU/US sizes)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4278600" y="3433680"/>
            <a:ext cx="56880" cy="38052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4412160" y="3433680"/>
            <a:ext cx="4437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Easy to Expand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4412160" y="3624120"/>
            <a:ext cx="44377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Add new product categories anytime - accessories, clothing, or anything else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7"/>
          <p:cNvSpPr/>
          <p:nvPr/>
        </p:nvSpPr>
        <p:spPr>
          <a:xfrm>
            <a:off x="4278600" y="3948120"/>
            <a:ext cx="56880" cy="38052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Text 28"/>
          <p:cNvSpPr/>
          <p:nvPr/>
        </p:nvSpPr>
        <p:spPr>
          <a:xfrm>
            <a:off x="4412160" y="3948120"/>
            <a:ext cx="4437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Inventory Management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9"/>
          <p:cNvSpPr/>
          <p:nvPr/>
        </p:nvSpPr>
        <p:spPr>
          <a:xfrm>
            <a:off x="4412160" y="4138560"/>
            <a:ext cx="44377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Track stock for each color-size combination independently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30"/>
          <p:cNvSpPr/>
          <p:nvPr/>
        </p:nvSpPr>
        <p:spPr>
          <a:xfrm>
            <a:off x="524880" y="4781520"/>
            <a:ext cx="2370600" cy="9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Products can have any combination of colors and sizes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380880" y="262080"/>
            <a:ext cx="4284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a237e"/>
                </a:solidFill>
                <a:latin typeface="Arial"/>
                <a:ea typeface="Arial"/>
              </a:rPr>
              <a:t>Simple Shopping Flow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380880" y="910080"/>
            <a:ext cx="2437920" cy="1477800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Text 2"/>
          <p:cNvSpPr/>
          <p:nvPr/>
        </p:nvSpPr>
        <p:spPr>
          <a:xfrm>
            <a:off x="2438280" y="1024200"/>
            <a:ext cx="266400" cy="266400"/>
          </a:xfrm>
          <a:prstGeom prst="roundRect">
            <a:avLst>
              <a:gd name="adj" fmla="val 342857"/>
            </a:avLst>
          </a:prstGeom>
          <a:solidFill>
            <a:srgbClr val="1a23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Text 3"/>
          <p:cNvSpPr/>
          <p:nvPr/>
        </p:nvSpPr>
        <p:spPr>
          <a:xfrm>
            <a:off x="533520" y="1062360"/>
            <a:ext cx="217584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781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2700" spc="-1" strike="noStrike">
                <a:solidFill>
                  <a:srgbClr val="2d3748"/>
                </a:solidFill>
                <a:latin typeface="Arial"/>
                <a:ea typeface="Arial"/>
              </a:rPr>
              <a:t>🛍️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533520" y="1675800"/>
            <a:ext cx="21758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a237e"/>
                </a:solidFill>
                <a:latin typeface="Arial"/>
                <a:ea typeface="Arial"/>
              </a:rPr>
              <a:t>Browse &amp; Select</a:t>
            </a:r>
            <a:endParaRPr b="0" lang="en-GB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533520" y="1942200"/>
            <a:ext cx="217584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Customer browses products and chooses color &amp; size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2969640" y="910080"/>
            <a:ext cx="23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2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6b6b"/>
                </a:solidFill>
                <a:latin typeface="Arial"/>
                <a:ea typeface="Arial"/>
              </a:rPr>
              <a:t>→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3352680" y="910080"/>
            <a:ext cx="2437920" cy="1477800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Text 8"/>
          <p:cNvSpPr/>
          <p:nvPr/>
        </p:nvSpPr>
        <p:spPr>
          <a:xfrm>
            <a:off x="5410080" y="1024200"/>
            <a:ext cx="266400" cy="266400"/>
          </a:xfrm>
          <a:prstGeom prst="roundRect">
            <a:avLst>
              <a:gd name="adj" fmla="val 342857"/>
            </a:avLst>
          </a:prstGeom>
          <a:solidFill>
            <a:srgbClr val="1a23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Text 9"/>
          <p:cNvSpPr/>
          <p:nvPr/>
        </p:nvSpPr>
        <p:spPr>
          <a:xfrm>
            <a:off x="3505320" y="1062360"/>
            <a:ext cx="217584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781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2700" spc="-1" strike="noStrike">
                <a:solidFill>
                  <a:srgbClr val="2d3748"/>
                </a:solidFill>
                <a:latin typeface="Arial"/>
                <a:ea typeface="Arial"/>
              </a:rPr>
              <a:t>🛒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3505320" y="1675800"/>
            <a:ext cx="21758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a237e"/>
                </a:solidFill>
                <a:latin typeface="Arial"/>
                <a:ea typeface="Arial"/>
              </a:rPr>
              <a:t>Add to Cart</a:t>
            </a:r>
            <a:endParaRPr b="0" lang="en-GB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3505320" y="1942200"/>
            <a:ext cx="217584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Items added to shopping cart with selected variants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5941440" y="910080"/>
            <a:ext cx="23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2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6b6b"/>
                </a:solidFill>
                <a:latin typeface="Arial"/>
                <a:ea typeface="Arial"/>
              </a:rPr>
              <a:t>→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6324480" y="910080"/>
            <a:ext cx="2437920" cy="1477800"/>
          </a:xfrm>
          <a:prstGeom prst="roundRect">
            <a:avLst>
              <a:gd name="adj" fmla="val 515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8381880" y="1024200"/>
            <a:ext cx="266400" cy="266400"/>
          </a:xfrm>
          <a:prstGeom prst="roundRect">
            <a:avLst>
              <a:gd name="adj" fmla="val 342857"/>
            </a:avLst>
          </a:prstGeom>
          <a:solidFill>
            <a:srgbClr val="1a23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6477120" y="1135440"/>
            <a:ext cx="217584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781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2700" spc="-1" strike="noStrike">
                <a:solidFill>
                  <a:srgbClr val="2d3748"/>
                </a:solidFill>
                <a:latin typeface="Arial"/>
                <a:ea typeface="Arial"/>
              </a:rPr>
              <a:t>💳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6477120" y="1748880"/>
            <a:ext cx="21758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a237e"/>
                </a:solidFill>
                <a:latin typeface="Arial"/>
                <a:ea typeface="Arial"/>
              </a:rPr>
              <a:t>Checkout</a:t>
            </a:r>
            <a:endParaRPr b="0" lang="en-GB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6477120" y="2015640"/>
            <a:ext cx="217584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Review order and proceed to payment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Image 0" descr="/tmp/rasterized-gradient-0698becb.png"/>
          <p:cNvPicPr/>
          <p:nvPr/>
        </p:nvPicPr>
        <p:blipFill>
          <a:blip r:embed="rId1"/>
          <a:stretch/>
        </p:blipFill>
        <p:spPr>
          <a:xfrm>
            <a:off x="380880" y="2578320"/>
            <a:ext cx="4095360" cy="449280"/>
          </a:xfrm>
          <a:prstGeom prst="rect">
            <a:avLst/>
          </a:prstGeom>
          <a:ln w="0">
            <a:noFill/>
          </a:ln>
        </p:spPr>
      </p:pic>
      <p:sp>
        <p:nvSpPr>
          <p:cNvPr id="76" name="Text 18"/>
          <p:cNvSpPr/>
          <p:nvPr/>
        </p:nvSpPr>
        <p:spPr>
          <a:xfrm>
            <a:off x="514440" y="2711880"/>
            <a:ext cx="3905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💳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Payment Instructions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380880" y="3142080"/>
            <a:ext cx="4095360" cy="14760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ff6b6b"/>
            </a:solidFill>
            <a:round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Text 20"/>
          <p:cNvSpPr/>
          <p:nvPr/>
        </p:nvSpPr>
        <p:spPr>
          <a:xfrm>
            <a:off x="552600" y="3313800"/>
            <a:ext cx="3827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Bank Transfer Details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552600" y="3466080"/>
            <a:ext cx="3752640" cy="847440"/>
          </a:xfrm>
          <a:prstGeom prst="roundRect">
            <a:avLst>
              <a:gd name="adj" fmla="val 6742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Text 22"/>
          <p:cNvSpPr/>
          <p:nvPr/>
        </p:nvSpPr>
        <p:spPr>
          <a:xfrm>
            <a:off x="552600" y="4313880"/>
            <a:ext cx="38275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i="1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Transfer this amount and click the button below after payment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Image 1" descr="/tmp/rasterized-gradient-1c3f5016.png"/>
          <p:cNvPicPr/>
          <p:nvPr/>
        </p:nvPicPr>
        <p:blipFill>
          <a:blip r:embed="rId2"/>
          <a:stretch/>
        </p:blipFill>
        <p:spPr>
          <a:xfrm>
            <a:off x="4667400" y="2578320"/>
            <a:ext cx="4095360" cy="449280"/>
          </a:xfrm>
          <a:prstGeom prst="rect">
            <a:avLst/>
          </a:prstGeom>
          <a:ln w="0">
            <a:noFill/>
          </a:ln>
        </p:spPr>
      </p:pic>
      <p:sp>
        <p:nvSpPr>
          <p:cNvPr id="82" name="Text 23"/>
          <p:cNvSpPr/>
          <p:nvPr/>
        </p:nvSpPr>
        <p:spPr>
          <a:xfrm>
            <a:off x="4800600" y="2711880"/>
            <a:ext cx="3905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💬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Confirm Payment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4"/>
          <p:cNvSpPr/>
          <p:nvPr/>
        </p:nvSpPr>
        <p:spPr>
          <a:xfrm>
            <a:off x="4667400" y="3142080"/>
            <a:ext cx="4095360" cy="2005560"/>
          </a:xfrm>
          <a:prstGeom prst="roundRect">
            <a:avLst>
              <a:gd name="adj" fmla="val 3799"/>
            </a:avLst>
          </a:prstGeom>
          <a:solidFill>
            <a:srgbClr val="ffffff"/>
          </a:solidFill>
          <a:ln w="19050">
            <a:solidFill>
              <a:srgbClr val="48bb78"/>
            </a:solidFill>
            <a:round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Text 25"/>
          <p:cNvSpPr/>
          <p:nvPr/>
        </p:nvSpPr>
        <p:spPr>
          <a:xfrm>
            <a:off x="4801320" y="3313800"/>
            <a:ext cx="3827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504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2d3748"/>
                </a:solidFill>
                <a:latin typeface="Arial"/>
                <a:ea typeface="Arial"/>
              </a:rPr>
              <a:t>✓</a:t>
            </a:r>
            <a:endParaRPr b="0" lang="en-GB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6"/>
          <p:cNvSpPr/>
          <p:nvPr/>
        </p:nvSpPr>
        <p:spPr>
          <a:xfrm>
            <a:off x="4801320" y="3953520"/>
            <a:ext cx="3827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8bb78"/>
                </a:solidFill>
                <a:latin typeface="Arial"/>
                <a:ea typeface="Arial"/>
              </a:rPr>
              <a:t>Payment Made?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7"/>
          <p:cNvSpPr/>
          <p:nvPr/>
        </p:nvSpPr>
        <p:spPr>
          <a:xfrm>
            <a:off x="4801320" y="4106160"/>
            <a:ext cx="382752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Click the button below to notify us via WhatsApp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8"/>
          <p:cNvSpPr/>
          <p:nvPr/>
        </p:nvSpPr>
        <p:spPr>
          <a:xfrm>
            <a:off x="4838760" y="4252680"/>
            <a:ext cx="3752640" cy="399600"/>
          </a:xfrm>
          <a:prstGeom prst="roundRect">
            <a:avLst>
              <a:gd name="adj" fmla="val 19048"/>
            </a:avLst>
          </a:prstGeom>
          <a:solidFill>
            <a:srgbClr val="25d3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Text 29"/>
          <p:cNvSpPr/>
          <p:nvPr/>
        </p:nvSpPr>
        <p:spPr>
          <a:xfrm>
            <a:off x="4838760" y="4652640"/>
            <a:ext cx="3752640" cy="323640"/>
          </a:xfrm>
          <a:prstGeom prst="roundRect">
            <a:avLst>
              <a:gd name="adj" fmla="val 17647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Text 30"/>
          <p:cNvSpPr/>
          <p:nvPr/>
        </p:nvSpPr>
        <p:spPr>
          <a:xfrm>
            <a:off x="4898160" y="4748040"/>
            <a:ext cx="36331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We'll confirm your payment and arrange delivery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31"/>
          <p:cNvSpPr/>
          <p:nvPr/>
        </p:nvSpPr>
        <p:spPr>
          <a:xfrm>
            <a:off x="380880" y="4781520"/>
            <a:ext cx="3556800" cy="9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Payment popup appears after checkout | WhatsApp link pre-filled with order details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380880" y="647640"/>
            <a:ext cx="55764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a237e"/>
                </a:solidFill>
                <a:latin typeface="Arial"/>
                <a:ea typeface="Arial"/>
              </a:rPr>
              <a:t>Recommended Technology Stack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Image 0" descr="/tmp/rasterized-gradient-711da7bf.png"/>
          <p:cNvPicPr/>
          <p:nvPr/>
        </p:nvPicPr>
        <p:blipFill>
          <a:blip r:embed="rId1"/>
          <a:stretch/>
        </p:blipFill>
        <p:spPr>
          <a:xfrm>
            <a:off x="380880" y="1657080"/>
            <a:ext cx="4076280" cy="449280"/>
          </a:xfrm>
          <a:prstGeom prst="rect">
            <a:avLst/>
          </a:prstGeom>
          <a:ln w="0">
            <a:noFill/>
          </a:ln>
        </p:spPr>
      </p:pic>
      <p:sp>
        <p:nvSpPr>
          <p:cNvPr id="93" name="Text 1"/>
          <p:cNvSpPr/>
          <p:nvPr/>
        </p:nvSpPr>
        <p:spPr>
          <a:xfrm>
            <a:off x="514440" y="1790280"/>
            <a:ext cx="3885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React (vite) + Node.js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380880" y="2239560"/>
            <a:ext cx="4076280" cy="2160720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Text 3"/>
          <p:cNvSpPr/>
          <p:nvPr/>
        </p:nvSpPr>
        <p:spPr>
          <a:xfrm>
            <a:off x="533520" y="2392200"/>
            <a:ext cx="3846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a237e"/>
                </a:solidFill>
                <a:latin typeface="Arial"/>
                <a:ea typeface="Arial"/>
              </a:rPr>
              <a:t>Why This Stack?</a:t>
            </a:r>
            <a:endParaRPr b="0" lang="en-GB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753480" y="2554200"/>
            <a:ext cx="36226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2d3748"/>
                </a:solidFill>
                <a:latin typeface="Arial"/>
                <a:ea typeface="Arial"/>
              </a:rPr>
              <a:t>Full Control &amp; Flexibility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753480" y="2746440"/>
            <a:ext cx="36226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Custom payment flow and WhatsApp integration exactly as you want it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753480" y="2892960"/>
            <a:ext cx="36226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2d3748"/>
                </a:solidFill>
                <a:latin typeface="Arial"/>
                <a:ea typeface="Arial"/>
              </a:rPr>
              <a:t>Modern &amp; Fast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753480" y="3085200"/>
            <a:ext cx="36226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Lightning-fast page loads and smooth user experience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753480" y="3231720"/>
            <a:ext cx="36226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2d3748"/>
                </a:solidFill>
                <a:latin typeface="Arial"/>
                <a:ea typeface="Arial"/>
              </a:rPr>
              <a:t>Easy to Scale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753480" y="3423960"/>
            <a:ext cx="36226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Add new features, product categories, and payment methods anytime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753480" y="3570840"/>
            <a:ext cx="36226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2d3748"/>
                </a:solidFill>
                <a:latin typeface="Arial"/>
                <a:ea typeface="Arial"/>
              </a:rPr>
              <a:t>Mobile-Friendly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753480" y="3763080"/>
            <a:ext cx="36226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Perfect on phones, tablets, and desktops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753480" y="3909600"/>
            <a:ext cx="36226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2d3748"/>
                </a:solidFill>
                <a:latin typeface="Arial"/>
                <a:ea typeface="Arial"/>
              </a:rPr>
              <a:t>Your Developer Knows It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753480" y="4101840"/>
            <a:ext cx="36226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Faster development with familiar technology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Image 1" descr="/tmp/rasterized-gradient-5ec2cbcd.png"/>
          <p:cNvPicPr/>
          <p:nvPr/>
        </p:nvPicPr>
        <p:blipFill>
          <a:blip r:embed="rId2"/>
          <a:stretch/>
        </p:blipFill>
        <p:spPr>
          <a:xfrm>
            <a:off x="4686480" y="1029240"/>
            <a:ext cx="4076280" cy="449280"/>
          </a:xfrm>
          <a:prstGeom prst="rect">
            <a:avLst/>
          </a:prstGeom>
          <a:ln w="0">
            <a:noFill/>
          </a:ln>
        </p:spPr>
      </p:pic>
      <p:sp>
        <p:nvSpPr>
          <p:cNvPr id="107" name="Text 14"/>
          <p:cNvSpPr/>
          <p:nvPr/>
        </p:nvSpPr>
        <p:spPr>
          <a:xfrm>
            <a:off x="4819680" y="1162440"/>
            <a:ext cx="3885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Other Options (Not Recommended)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4686480" y="1612080"/>
            <a:ext cx="4076280" cy="778680"/>
          </a:xfrm>
          <a:prstGeom prst="roundRect">
            <a:avLst>
              <a:gd name="adj" fmla="val 978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4838760" y="1778760"/>
            <a:ext cx="1865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WordPress + WooCommerce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4838760" y="1945440"/>
            <a:ext cx="384696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Pros: Quick setup, many plugins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4838760" y="2091960"/>
            <a:ext cx="384696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Cons: Hard to customize payment popup, less flexible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4686480" y="2524320"/>
            <a:ext cx="4076280" cy="778680"/>
          </a:xfrm>
          <a:prstGeom prst="roundRect">
            <a:avLst>
              <a:gd name="adj" fmla="val 978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Text 20"/>
          <p:cNvSpPr/>
          <p:nvPr/>
        </p:nvSpPr>
        <p:spPr>
          <a:xfrm>
            <a:off x="4838760" y="2691000"/>
            <a:ext cx="1118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C# ASP.NET MVC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1"/>
          <p:cNvSpPr/>
          <p:nvPr/>
        </p:nvSpPr>
        <p:spPr>
          <a:xfrm>
            <a:off x="4838760" y="2857680"/>
            <a:ext cx="384696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Pros: Enterprise-grade, powerful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2"/>
          <p:cNvSpPr/>
          <p:nvPr/>
        </p:nvSpPr>
        <p:spPr>
          <a:xfrm>
            <a:off x="4838760" y="3004200"/>
            <a:ext cx="384696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Cons: Too complex for this project, slower development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3"/>
          <p:cNvSpPr/>
          <p:nvPr/>
        </p:nvSpPr>
        <p:spPr>
          <a:xfrm>
            <a:off x="4686480" y="3436560"/>
            <a:ext cx="4076280" cy="778680"/>
          </a:xfrm>
          <a:prstGeom prst="roundRect">
            <a:avLst>
              <a:gd name="adj" fmla="val 978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Text 24"/>
          <p:cNvSpPr/>
          <p:nvPr/>
        </p:nvSpPr>
        <p:spPr>
          <a:xfrm>
            <a:off x="4838760" y="3603240"/>
            <a:ext cx="1580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Plain HTML + JavaScript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5"/>
          <p:cNvSpPr/>
          <p:nvPr/>
        </p:nvSpPr>
        <p:spPr>
          <a:xfrm>
            <a:off x="4838760" y="3769920"/>
            <a:ext cx="384696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Pros: Simple, lightweight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6"/>
          <p:cNvSpPr/>
          <p:nvPr/>
        </p:nvSpPr>
        <p:spPr>
          <a:xfrm>
            <a:off x="4838760" y="3916440"/>
            <a:ext cx="384696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Cons: Hard to maintain as site grows, no modern features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7"/>
          <p:cNvSpPr/>
          <p:nvPr/>
        </p:nvSpPr>
        <p:spPr>
          <a:xfrm>
            <a:off x="4686480" y="4348800"/>
            <a:ext cx="4076280" cy="679680"/>
          </a:xfrm>
          <a:prstGeom prst="roundRect">
            <a:avLst>
              <a:gd name="adj" fmla="val 11206"/>
            </a:avLst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Text 28"/>
          <p:cNvSpPr/>
          <p:nvPr/>
        </p:nvSpPr>
        <p:spPr>
          <a:xfrm>
            <a:off x="4800600" y="4463280"/>
            <a:ext cx="392472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Tech Stack Details: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9"/>
          <p:cNvSpPr/>
          <p:nvPr/>
        </p:nvSpPr>
        <p:spPr>
          <a:xfrm>
            <a:off x="4800600" y="4647960"/>
            <a:ext cx="3924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React, TypeScript, Node.js, Tailwind CSS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49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Database: PostgreSQL or MongoDB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30"/>
          <p:cNvSpPr/>
          <p:nvPr/>
        </p:nvSpPr>
        <p:spPr>
          <a:xfrm>
            <a:off x="380880" y="4781520"/>
            <a:ext cx="2284200" cy="9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Based on your requirements and developer expertise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380880" y="774720"/>
            <a:ext cx="49546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a237e"/>
                </a:solidFill>
                <a:latin typeface="Arial"/>
                <a:ea typeface="Arial"/>
              </a:rPr>
              <a:t>Project Timeline &amp; Next Steps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380880" y="1560240"/>
            <a:ext cx="4177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37e"/>
                </a:solidFill>
                <a:latin typeface="Arial"/>
                <a:ea typeface="Arial"/>
              </a:rPr>
              <a:t>Development Timeline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380880" y="1857240"/>
            <a:ext cx="4095360" cy="803520"/>
          </a:xfrm>
          <a:prstGeom prst="roundRect">
            <a:avLst>
              <a:gd name="adj" fmla="val 948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399960" y="1857240"/>
            <a:ext cx="360" cy="803880"/>
          </a:xfrm>
          <a:prstGeom prst="line">
            <a:avLst/>
          </a:prstGeom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571680" y="2009880"/>
            <a:ext cx="563400" cy="209160"/>
          </a:xfrm>
          <a:prstGeom prst="roundRect">
            <a:avLst>
              <a:gd name="adj" fmla="val 18182"/>
            </a:avLst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647640" y="2048040"/>
            <a:ext cx="4194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Arial"/>
                <a:ea typeface="Arial"/>
              </a:rPr>
              <a:t>Week 1-2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571680" y="2219400"/>
            <a:ext cx="3827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Design &amp; Planning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571680" y="2362320"/>
            <a:ext cx="382752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Mockups, database design, project setup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380880" y="2775600"/>
            <a:ext cx="4095360" cy="803520"/>
          </a:xfrm>
          <a:prstGeom prst="roundRect">
            <a:avLst>
              <a:gd name="adj" fmla="val 948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3" name="Shape 9"/>
          <p:cNvSpPr/>
          <p:nvPr/>
        </p:nvSpPr>
        <p:spPr>
          <a:xfrm>
            <a:off x="399960" y="2775240"/>
            <a:ext cx="360" cy="803880"/>
          </a:xfrm>
          <a:prstGeom prst="line">
            <a:avLst/>
          </a:prstGeom>
          <a:ln w="381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571680" y="2927880"/>
            <a:ext cx="563400" cy="209160"/>
          </a:xfrm>
          <a:prstGeom prst="roundRect">
            <a:avLst>
              <a:gd name="adj" fmla="val 18182"/>
            </a:avLst>
          </a:prstGeom>
          <a:solidFill>
            <a:srgbClr val="4fc3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647640" y="2966040"/>
            <a:ext cx="4194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Arial"/>
                <a:ea typeface="Arial"/>
              </a:rPr>
              <a:t>Week 3-4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2"/>
          <p:cNvSpPr/>
          <p:nvPr/>
        </p:nvSpPr>
        <p:spPr>
          <a:xfrm>
            <a:off x="571680" y="3137400"/>
            <a:ext cx="3827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Core Development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571680" y="3280320"/>
            <a:ext cx="382752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Product catalog, cart, payment system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380880" y="3693600"/>
            <a:ext cx="4095360" cy="803520"/>
          </a:xfrm>
          <a:prstGeom prst="roundRect">
            <a:avLst>
              <a:gd name="adj" fmla="val 948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9" name="Shape 15"/>
          <p:cNvSpPr/>
          <p:nvPr/>
        </p:nvSpPr>
        <p:spPr>
          <a:xfrm>
            <a:off x="399960" y="3693600"/>
            <a:ext cx="360" cy="803520"/>
          </a:xfrm>
          <a:prstGeom prst="line">
            <a:avLst/>
          </a:prstGeom>
          <a:ln w="38100">
            <a:solidFill>
              <a:srgbClr val="48bb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6"/>
          <p:cNvSpPr/>
          <p:nvPr/>
        </p:nvSpPr>
        <p:spPr>
          <a:xfrm>
            <a:off x="571680" y="3845880"/>
            <a:ext cx="563400" cy="209160"/>
          </a:xfrm>
          <a:prstGeom prst="roundRect">
            <a:avLst>
              <a:gd name="adj" fmla="val 18182"/>
            </a:avLst>
          </a:prstGeom>
          <a:solidFill>
            <a:srgbClr val="48b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647640" y="3884040"/>
            <a:ext cx="4194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Arial"/>
                <a:ea typeface="Arial"/>
              </a:rPr>
              <a:t>Week 5-6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8"/>
          <p:cNvSpPr/>
          <p:nvPr/>
        </p:nvSpPr>
        <p:spPr>
          <a:xfrm>
            <a:off x="571680" y="4055400"/>
            <a:ext cx="3827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Testing &amp; Launch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9"/>
          <p:cNvSpPr/>
          <p:nvPr/>
        </p:nvSpPr>
        <p:spPr>
          <a:xfrm>
            <a:off x="571680" y="4198320"/>
            <a:ext cx="382752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18096"/>
                </a:solidFill>
                <a:latin typeface="Arial"/>
                <a:ea typeface="Arial"/>
              </a:rPr>
              <a:t>WhatsApp integration, testing, go live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Image 0" descr="/tmp/rasterized-gradient-dda15d5f.png"/>
          <p:cNvPicPr/>
          <p:nvPr/>
        </p:nvPicPr>
        <p:blipFill>
          <a:blip r:embed="rId1"/>
          <a:stretch/>
        </p:blipFill>
        <p:spPr>
          <a:xfrm>
            <a:off x="4667400" y="1422360"/>
            <a:ext cx="4095360" cy="666360"/>
          </a:xfrm>
          <a:prstGeom prst="rect">
            <a:avLst/>
          </a:prstGeom>
          <a:ln w="0">
            <a:noFill/>
          </a:ln>
        </p:spPr>
      </p:pic>
      <p:sp>
        <p:nvSpPr>
          <p:cNvPr id="145" name="Text 20"/>
          <p:cNvSpPr/>
          <p:nvPr/>
        </p:nvSpPr>
        <p:spPr>
          <a:xfrm>
            <a:off x="4762440" y="1555560"/>
            <a:ext cx="3905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4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Ready to Start?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21"/>
          <p:cNvSpPr/>
          <p:nvPr/>
        </p:nvSpPr>
        <p:spPr>
          <a:xfrm>
            <a:off x="4762440" y="1795680"/>
            <a:ext cx="39052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>
                    <a:alpha val="90000"/>
                  </a:srgbClr>
                </a:solidFill>
                <a:latin typeface="Arial"/>
                <a:ea typeface="Arial"/>
              </a:rPr>
              <a:t>Let's build your online store!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2"/>
          <p:cNvSpPr/>
          <p:nvPr/>
        </p:nvSpPr>
        <p:spPr>
          <a:xfrm>
            <a:off x="4667400" y="2203200"/>
            <a:ext cx="4095360" cy="1336320"/>
          </a:xfrm>
          <a:prstGeom prst="roundRect">
            <a:avLst>
              <a:gd name="adj" fmla="val 570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Text 23"/>
          <p:cNvSpPr/>
          <p:nvPr/>
        </p:nvSpPr>
        <p:spPr>
          <a:xfrm>
            <a:off x="4819680" y="2355480"/>
            <a:ext cx="3866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37e"/>
                </a:solidFill>
                <a:latin typeface="Arial"/>
                <a:ea typeface="Arial"/>
              </a:rPr>
              <a:t>What You'll Get:</a:t>
            </a:r>
            <a:endParaRPr b="0" lang="en-GB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24"/>
          <p:cNvSpPr/>
          <p:nvPr/>
        </p:nvSpPr>
        <p:spPr>
          <a:xfrm>
            <a:off x="4819680" y="2508120"/>
            <a:ext cx="38664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48bb78"/>
                </a:solidFill>
                <a:latin typeface="Arial"/>
                <a:ea typeface="Arial"/>
              </a:rPr>
              <a:t>✓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 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Product catalog with variants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25"/>
          <p:cNvSpPr/>
          <p:nvPr/>
        </p:nvSpPr>
        <p:spPr>
          <a:xfrm>
            <a:off x="4819680" y="2654640"/>
            <a:ext cx="38664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48bb78"/>
                </a:solidFill>
                <a:latin typeface="Arial"/>
                <a:ea typeface="Arial"/>
              </a:rPr>
              <a:t>✓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 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Shopping cart &amp; checkout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6"/>
          <p:cNvSpPr/>
          <p:nvPr/>
        </p:nvSpPr>
        <p:spPr>
          <a:xfrm>
            <a:off x="4819680" y="2801160"/>
            <a:ext cx="38664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48bb78"/>
                </a:solidFill>
                <a:latin typeface="Arial"/>
                <a:ea typeface="Arial"/>
              </a:rPr>
              <a:t>✓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 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Payment popup system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7"/>
          <p:cNvSpPr/>
          <p:nvPr/>
        </p:nvSpPr>
        <p:spPr>
          <a:xfrm>
            <a:off x="4819680" y="2947680"/>
            <a:ext cx="38664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48bb78"/>
                </a:solidFill>
                <a:latin typeface="Arial"/>
                <a:ea typeface="Arial"/>
              </a:rPr>
              <a:t>✓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 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WhatsApp integration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8"/>
          <p:cNvSpPr/>
          <p:nvPr/>
        </p:nvSpPr>
        <p:spPr>
          <a:xfrm>
            <a:off x="4819680" y="3094560"/>
            <a:ext cx="38664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48bb78"/>
                </a:solidFill>
                <a:latin typeface="Arial"/>
                <a:ea typeface="Arial"/>
              </a:rPr>
              <a:t>✓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 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Mobile-responsive design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9"/>
          <p:cNvSpPr/>
          <p:nvPr/>
        </p:nvSpPr>
        <p:spPr>
          <a:xfrm>
            <a:off x="4819680" y="3241080"/>
            <a:ext cx="38664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54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48bb78"/>
                </a:solidFill>
                <a:latin typeface="Arial"/>
                <a:ea typeface="Arial"/>
              </a:rPr>
              <a:t>✓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 </a:t>
            </a:r>
            <a:r>
              <a:rPr b="0" lang="en-US" sz="820" spc="-1" strike="noStrike">
                <a:solidFill>
                  <a:srgbClr val="2d3748"/>
                </a:solidFill>
                <a:latin typeface="Arial"/>
                <a:ea typeface="Arial"/>
              </a:rPr>
              <a:t>Admin panel</a:t>
            </a:r>
            <a:endParaRPr b="0" lang="en-GB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30"/>
          <p:cNvSpPr/>
          <p:nvPr/>
        </p:nvSpPr>
        <p:spPr>
          <a:xfrm>
            <a:off x="4667400" y="3654360"/>
            <a:ext cx="4095360" cy="980640"/>
          </a:xfrm>
          <a:prstGeom prst="roundRect">
            <a:avLst>
              <a:gd name="adj" fmla="val 7767"/>
            </a:avLst>
          </a:prstGeom>
          <a:solidFill>
            <a:srgbClr val="f5f7fa"/>
          </a:solidFill>
          <a:ln w="0">
            <a:noFill/>
          </a:ln>
          <a:effectLst>
            <a:outerShdw algn="bl" blurRad="76320" dir="5400000" dist="1908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" name="Text 31"/>
          <p:cNvSpPr/>
          <p:nvPr/>
        </p:nvSpPr>
        <p:spPr>
          <a:xfrm>
            <a:off x="4819680" y="3806640"/>
            <a:ext cx="3866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Next Steps: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2"/>
          <p:cNvSpPr/>
          <p:nvPr/>
        </p:nvSpPr>
        <p:spPr>
          <a:xfrm>
            <a:off x="4819680" y="3949560"/>
            <a:ext cx="38664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1. Approve proposal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3"/>
          <p:cNvSpPr/>
          <p:nvPr/>
        </p:nvSpPr>
        <p:spPr>
          <a:xfrm>
            <a:off x="4819680" y="4083120"/>
            <a:ext cx="38664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2. Provide product images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4"/>
          <p:cNvSpPr/>
          <p:nvPr/>
        </p:nvSpPr>
        <p:spPr>
          <a:xfrm>
            <a:off x="4819680" y="4216320"/>
            <a:ext cx="38664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3. Share bank details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5"/>
          <p:cNvSpPr/>
          <p:nvPr/>
        </p:nvSpPr>
        <p:spPr>
          <a:xfrm>
            <a:off x="4819680" y="4349520"/>
            <a:ext cx="38664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4. We start development!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36"/>
          <p:cNvSpPr/>
          <p:nvPr/>
        </p:nvSpPr>
        <p:spPr>
          <a:xfrm>
            <a:off x="380880" y="4781520"/>
            <a:ext cx="2810160" cy="9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Timeline may vary based on feedback | Questions? Let's discuss!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37"/>
          <p:cNvSpPr/>
          <p:nvPr/>
        </p:nvSpPr>
        <p:spPr>
          <a:xfrm>
            <a:off x="380880" y="774720"/>
            <a:ext cx="49546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a237e"/>
                </a:solidFill>
                <a:latin typeface="Arial"/>
                <a:ea typeface="Arial"/>
              </a:rPr>
              <a:t>Dependencies</a:t>
            </a:r>
            <a:endParaRPr b="0" lang="en-GB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38"/>
          <p:cNvSpPr/>
          <p:nvPr/>
        </p:nvSpPr>
        <p:spPr>
          <a:xfrm>
            <a:off x="380880" y="1560240"/>
            <a:ext cx="4177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399960" y="1857240"/>
            <a:ext cx="360" cy="803880"/>
          </a:xfrm>
          <a:prstGeom prst="line">
            <a:avLst/>
          </a:prstGeom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2"/>
          <p:cNvSpPr/>
          <p:nvPr/>
        </p:nvSpPr>
        <p:spPr>
          <a:xfrm>
            <a:off x="576720" y="1872000"/>
            <a:ext cx="3827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Domain Name Registration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"/>
          <p:cNvSpPr/>
          <p:nvPr/>
        </p:nvSpPr>
        <p:spPr>
          <a:xfrm>
            <a:off x="399960" y="2775240"/>
            <a:ext cx="360" cy="803880"/>
          </a:xfrm>
          <a:prstGeom prst="line">
            <a:avLst/>
          </a:prstGeom>
          <a:ln w="381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6"/>
          <p:cNvSpPr/>
          <p:nvPr/>
        </p:nvSpPr>
        <p:spPr>
          <a:xfrm>
            <a:off x="647640" y="2966040"/>
            <a:ext cx="4194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Arial"/>
                <a:ea typeface="Arial"/>
              </a:rPr>
              <a:t>Week 3-4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51"/>
          <p:cNvSpPr/>
          <p:nvPr/>
        </p:nvSpPr>
        <p:spPr>
          <a:xfrm>
            <a:off x="647640" y="3884040"/>
            <a:ext cx="4194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Arial"/>
                <a:ea typeface="Arial"/>
              </a:rPr>
              <a:t>Week 5-6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54"/>
          <p:cNvSpPr/>
          <p:nvPr/>
        </p:nvSpPr>
        <p:spPr>
          <a:xfrm>
            <a:off x="4762440" y="1555560"/>
            <a:ext cx="3905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4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Ready to Start?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70"/>
          <p:cNvSpPr/>
          <p:nvPr/>
        </p:nvSpPr>
        <p:spPr>
          <a:xfrm>
            <a:off x="380880" y="4781520"/>
            <a:ext cx="2810160" cy="9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18096"/>
                </a:solidFill>
                <a:latin typeface="Arial"/>
                <a:ea typeface="Arial"/>
              </a:rPr>
              <a:t>Timeline may vary based on feedback | Questions? Let's discuss!</a:t>
            </a:r>
            <a:endParaRPr b="0" lang="en-GB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39"/>
          <p:cNvSpPr/>
          <p:nvPr/>
        </p:nvSpPr>
        <p:spPr>
          <a:xfrm>
            <a:off x="576720" y="2448000"/>
            <a:ext cx="3827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41"/>
          <p:cNvSpPr/>
          <p:nvPr/>
        </p:nvSpPr>
        <p:spPr>
          <a:xfrm>
            <a:off x="576720" y="2125440"/>
            <a:ext cx="3827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Hosting                                                                Name cheap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43"/>
          <p:cNvSpPr/>
          <p:nvPr/>
        </p:nvSpPr>
        <p:spPr>
          <a:xfrm>
            <a:off x="576720" y="2340000"/>
            <a:ext cx="3827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Development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0"/>
          <p:cNvSpPr/>
          <p:nvPr/>
        </p:nvSpPr>
        <p:spPr>
          <a:xfrm>
            <a:off x="576720" y="2522520"/>
            <a:ext cx="3827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Deployment</a:t>
            </a:r>
            <a:endParaRPr b="0" lang="en-GB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44"/>
          <p:cNvSpPr/>
          <p:nvPr/>
        </p:nvSpPr>
        <p:spPr>
          <a:xfrm>
            <a:off x="3204000" y="1872000"/>
            <a:ext cx="3827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980" spc="-1" strike="noStrike">
                <a:solidFill>
                  <a:srgbClr val="1a237e"/>
                </a:solidFill>
                <a:latin typeface="Arial"/>
                <a:ea typeface="Arial"/>
              </a:rPr>
              <a:t>stanzo3.com</a:t>
            </a:r>
            <a:endParaRPr b="1" lang="en-GB" sz="9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2025-12-14T15:09:13Z</dcterms:created>
  <dc:creator>E-Commerce Proposal</dc:creator>
  <dc:description/>
  <dc:language>en-GB</dc:language>
  <cp:lastModifiedBy/>
  <dcterms:modified xsi:type="dcterms:W3CDTF">2026-01-24T12:16:30Z</dcterms:modified>
  <cp:revision>2</cp:revision>
  <dc:subject>PptxGenJS Presentation</dc:subject>
  <dc:title>Online Store Proposal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
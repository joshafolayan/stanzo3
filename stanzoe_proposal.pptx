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notes'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9502B45-3921-4D26-A8B4-1F2FCAF359D4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5CD69B-2633-49AA-A03F-A6CF176B90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85992D-84D8-429C-91AC-1B883E982C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E42479-5876-4778-AEA3-0AE10E00CE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F8C7D0-7550-4783-B2CF-9D329924F2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3F597D-6A09-4EDB-9026-A567E557E8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CCB757-255A-4F39-B3C4-970064E132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1CFB1D-9DB8-4E13-8BB1-538F773C615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380880" y="571680"/>
            <a:ext cx="5362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STANZOE3  E - Store</a:t>
            </a:r>
            <a:endParaRPr b="0" lang="en-GB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380880" y="1143000"/>
            <a:ext cx="8548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4fc3f7"/>
                </a:solidFill>
                <a:latin typeface="Arial"/>
                <a:ea typeface="Arial"/>
              </a:rPr>
              <a:t>Modern online shopping for bags, shoes &amp; more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80880" y="2560320"/>
            <a:ext cx="2662200" cy="118008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33520" y="2712960"/>
            <a:ext cx="380160" cy="38016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33520" y="3170160"/>
            <a:ext cx="24044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37e"/>
                </a:solidFill>
                <a:latin typeface="Arial"/>
                <a:ea typeface="Arial"/>
              </a:rPr>
              <a:t>Product Variants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33520" y="3429000"/>
            <a:ext cx="240444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Multiple colors and sizes for each product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272400" y="2560320"/>
            <a:ext cx="2617920" cy="118008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424680" y="2712960"/>
            <a:ext cx="380160" cy="38016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Text 8"/>
          <p:cNvSpPr/>
          <p:nvPr/>
        </p:nvSpPr>
        <p:spPr>
          <a:xfrm>
            <a:off x="3424680" y="3170160"/>
            <a:ext cx="23594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37e"/>
                </a:solidFill>
                <a:latin typeface="Arial"/>
                <a:ea typeface="Arial"/>
              </a:rPr>
              <a:t>Simple Payment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424680" y="3429000"/>
            <a:ext cx="235944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Bank transfer with account details popup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119640" y="2560320"/>
            <a:ext cx="2642760" cy="118008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271920" y="2712960"/>
            <a:ext cx="380160" cy="380160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271920" y="3170160"/>
            <a:ext cx="2384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37e"/>
                </a:solidFill>
                <a:latin typeface="Arial"/>
                <a:ea typeface="Arial"/>
              </a:rPr>
              <a:t>WhatsApp Contact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271920" y="3429000"/>
            <a:ext cx="238464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Direct chat to confirm payment &amp; delivery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Image 0" descr="/tmp/rasterized-gradient-84c7d835.png"/>
          <p:cNvPicPr/>
          <p:nvPr/>
        </p:nvPicPr>
        <p:blipFill>
          <a:blip r:embed="rId1"/>
          <a:stretch/>
        </p:blipFill>
        <p:spPr>
          <a:xfrm>
            <a:off x="380880" y="3931920"/>
            <a:ext cx="8381160" cy="593640"/>
          </a:xfrm>
          <a:prstGeom prst="rect">
            <a:avLst/>
          </a:prstGeom>
          <a:ln w="0">
            <a:noFill/>
          </a:ln>
        </p:spPr>
      </p:pic>
      <p:sp>
        <p:nvSpPr>
          <p:cNvPr id="23" name="Text 14"/>
          <p:cNvSpPr/>
          <p:nvPr/>
        </p:nvSpPr>
        <p:spPr>
          <a:xfrm>
            <a:off x="491400" y="4122360"/>
            <a:ext cx="816048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Let's build your perfect online store →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380880" y="4781520"/>
            <a:ext cx="1909080" cy="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</a:rPr>
              <a:t>Proposal for [Stanzo3] | January 2025</a:t>
            </a:r>
            <a:endParaRPr b="0" lang="en-GB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380880" y="647640"/>
            <a:ext cx="53913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Product Showcase with Variants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380880" y="1149120"/>
            <a:ext cx="3668400" cy="3797640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 2"/>
          <p:cNvSpPr/>
          <p:nvPr/>
        </p:nvSpPr>
        <p:spPr>
          <a:xfrm>
            <a:off x="533520" y="1301400"/>
            <a:ext cx="3363480" cy="171396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Text 3"/>
          <p:cNvSpPr/>
          <p:nvPr/>
        </p:nvSpPr>
        <p:spPr>
          <a:xfrm>
            <a:off x="533520" y="3130200"/>
            <a:ext cx="34308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2d3748"/>
                </a:solidFill>
                <a:latin typeface="Arial"/>
                <a:ea typeface="Arial"/>
              </a:rPr>
              <a:t>Classic Leather Bag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533520" y="3393000"/>
            <a:ext cx="343080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980" spc="-1" strike="noStrike">
                <a:solidFill>
                  <a:srgbClr val="718096"/>
                </a:solidFill>
                <a:latin typeface="Arial"/>
                <a:ea typeface="Arial"/>
              </a:rPr>
              <a:t>Premium quality, handcrafted design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533520" y="3680640"/>
            <a:ext cx="34308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900" spc="-1" strike="noStrike">
                <a:solidFill>
                  <a:srgbClr val="2d3748"/>
                </a:solidFill>
                <a:latin typeface="Arial"/>
                <a:ea typeface="Arial"/>
              </a:rPr>
              <a:t>Available Colors: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533520" y="3897720"/>
            <a:ext cx="304200" cy="304200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Text 7"/>
          <p:cNvSpPr/>
          <p:nvPr/>
        </p:nvSpPr>
        <p:spPr>
          <a:xfrm>
            <a:off x="914400" y="3897720"/>
            <a:ext cx="304200" cy="304200"/>
          </a:xfrm>
          <a:prstGeom prst="roundRect">
            <a:avLst>
              <a:gd name="adj" fmla="val 18750"/>
            </a:avLst>
          </a:prstGeom>
          <a:solidFill>
            <a:srgbClr val="8b4513"/>
          </a:solidFill>
          <a:ln w="190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 8"/>
          <p:cNvSpPr/>
          <p:nvPr/>
        </p:nvSpPr>
        <p:spPr>
          <a:xfrm>
            <a:off x="1295280" y="3897720"/>
            <a:ext cx="304200" cy="304200"/>
          </a:xfrm>
          <a:prstGeom prst="roundRect">
            <a:avLst>
              <a:gd name="adj" fmla="val 18750"/>
            </a:avLst>
          </a:prstGeom>
          <a:solidFill>
            <a:srgbClr val="dc143c"/>
          </a:solidFill>
          <a:ln w="190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Text 9"/>
          <p:cNvSpPr/>
          <p:nvPr/>
        </p:nvSpPr>
        <p:spPr>
          <a:xfrm>
            <a:off x="1676520" y="3897720"/>
            <a:ext cx="304200" cy="304200"/>
          </a:xfrm>
          <a:prstGeom prst="roundRect">
            <a:avLst>
              <a:gd name="adj" fmla="val 18750"/>
            </a:avLst>
          </a:prstGeom>
          <a:solidFill>
            <a:srgbClr val="1a237e"/>
          </a:solidFill>
          <a:ln w="190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533520" y="4316760"/>
            <a:ext cx="34308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900" spc="-1" strike="noStrike">
                <a:solidFill>
                  <a:srgbClr val="2d3748"/>
                </a:solidFill>
                <a:latin typeface="Arial"/>
                <a:ea typeface="Arial"/>
              </a:rPr>
              <a:t>Available Sizes: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533520" y="4497840"/>
            <a:ext cx="507600" cy="260280"/>
          </a:xfrm>
          <a:prstGeom prst="roundRect">
            <a:avLst>
              <a:gd name="adj" fmla="val 14604"/>
            </a:avLst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647640" y="4591080"/>
            <a:ext cx="2844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ffffff"/>
                </a:solidFill>
                <a:latin typeface="Arial"/>
                <a:ea typeface="Arial"/>
              </a:rPr>
              <a:t>Small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1117800" y="4497840"/>
            <a:ext cx="600480" cy="260280"/>
          </a:xfrm>
          <a:prstGeom prst="roundRect">
            <a:avLst>
              <a:gd name="adj" fmla="val 14604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1232280" y="4591080"/>
            <a:ext cx="379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Medium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1795320" y="4497840"/>
            <a:ext cx="496080" cy="260280"/>
          </a:xfrm>
          <a:prstGeom prst="roundRect">
            <a:avLst>
              <a:gd name="adj" fmla="val 14604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1909440" y="4591080"/>
            <a:ext cx="272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Large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Image 0" descr="/tmp/rasterized-gradient-78ac5c6c.png"/>
          <p:cNvPicPr/>
          <p:nvPr/>
        </p:nvPicPr>
        <p:blipFill>
          <a:blip r:embed="rId1"/>
          <a:stretch/>
        </p:blipFill>
        <p:spPr>
          <a:xfrm>
            <a:off x="4278600" y="1766880"/>
            <a:ext cx="4483800" cy="504000"/>
          </a:xfrm>
          <a:prstGeom prst="rect">
            <a:avLst/>
          </a:prstGeom>
          <a:ln w="0">
            <a:noFill/>
          </a:ln>
        </p:spPr>
      </p:pic>
      <p:sp>
        <p:nvSpPr>
          <p:cNvPr id="43" name="Text 17"/>
          <p:cNvSpPr/>
          <p:nvPr/>
        </p:nvSpPr>
        <p:spPr>
          <a:xfrm>
            <a:off x="4431240" y="1919160"/>
            <a:ext cx="42624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ffffff"/>
                </a:solidFill>
                <a:latin typeface="Arial"/>
                <a:ea typeface="Arial"/>
              </a:rPr>
              <a:t>✨ </a:t>
            </a:r>
            <a:r>
              <a:rPr b="1" lang="en-US" sz="1130" spc="-1" strike="noStrike">
                <a:solidFill>
                  <a:srgbClr val="ffffff"/>
                </a:solidFill>
                <a:latin typeface="Arial"/>
                <a:ea typeface="Arial"/>
              </a:rPr>
              <a:t>Flexible Product System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4278600" y="2405160"/>
            <a:ext cx="56520" cy="38016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4412160" y="2405160"/>
            <a:ext cx="44373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Multiple Color Options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4412160" y="2595600"/>
            <a:ext cx="443736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Each product can have unlimited color variants with visual color swatches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4278600" y="2919240"/>
            <a:ext cx="56520" cy="38016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4412160" y="2919240"/>
            <a:ext cx="44373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Size Variations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4412160" y="3110040"/>
            <a:ext cx="443736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Flexible sizing system for bags (S/M/L) and shoes (EU/US sizes)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4278600" y="3433680"/>
            <a:ext cx="56520" cy="38016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4412160" y="3433680"/>
            <a:ext cx="44373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Easy to Expand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4412160" y="3624120"/>
            <a:ext cx="443736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Add new product categories anytime - accessories, clothing, or anything else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7"/>
          <p:cNvSpPr/>
          <p:nvPr/>
        </p:nvSpPr>
        <p:spPr>
          <a:xfrm>
            <a:off x="4278600" y="3948120"/>
            <a:ext cx="56520" cy="38016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Text 28"/>
          <p:cNvSpPr/>
          <p:nvPr/>
        </p:nvSpPr>
        <p:spPr>
          <a:xfrm>
            <a:off x="4412160" y="3948120"/>
            <a:ext cx="44373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Inventory Management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9"/>
          <p:cNvSpPr/>
          <p:nvPr/>
        </p:nvSpPr>
        <p:spPr>
          <a:xfrm>
            <a:off x="4412160" y="4138560"/>
            <a:ext cx="443736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Track stock for each color-size combination independently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524880" y="4781520"/>
            <a:ext cx="2370240" cy="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Products can have any combination of colors and sizes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380880" y="262080"/>
            <a:ext cx="4283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Simple Shopping Flow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80880" y="910080"/>
            <a:ext cx="2437560" cy="1477440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 2"/>
          <p:cNvSpPr/>
          <p:nvPr/>
        </p:nvSpPr>
        <p:spPr>
          <a:xfrm>
            <a:off x="2438280" y="1024200"/>
            <a:ext cx="266040" cy="266040"/>
          </a:xfrm>
          <a:prstGeom prst="roundRect">
            <a:avLst>
              <a:gd name="adj" fmla="val 342857"/>
            </a:avLst>
          </a:prstGeom>
          <a:solidFill>
            <a:srgbClr val="1a23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Text 3"/>
          <p:cNvSpPr/>
          <p:nvPr/>
        </p:nvSpPr>
        <p:spPr>
          <a:xfrm>
            <a:off x="533520" y="1062360"/>
            <a:ext cx="217548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2700" spc="-1" strike="noStrike">
                <a:solidFill>
                  <a:srgbClr val="2d3748"/>
                </a:solidFill>
                <a:latin typeface="Arial"/>
                <a:ea typeface="Arial"/>
              </a:rPr>
              <a:t>🛍️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533520" y="1675800"/>
            <a:ext cx="21754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a237e"/>
                </a:solidFill>
                <a:latin typeface="Arial"/>
                <a:ea typeface="Arial"/>
              </a:rPr>
              <a:t>Browse &amp; Select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533520" y="1942200"/>
            <a:ext cx="217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Customer browses products and chooses color &amp; size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2969640" y="910080"/>
            <a:ext cx="23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6b6b"/>
                </a:solidFill>
                <a:latin typeface="Arial"/>
                <a:ea typeface="Arial"/>
              </a:rPr>
              <a:t>→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3352680" y="910080"/>
            <a:ext cx="2437560" cy="1477440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Text 8"/>
          <p:cNvSpPr/>
          <p:nvPr/>
        </p:nvSpPr>
        <p:spPr>
          <a:xfrm>
            <a:off x="5410080" y="1024200"/>
            <a:ext cx="266040" cy="266040"/>
          </a:xfrm>
          <a:prstGeom prst="roundRect">
            <a:avLst>
              <a:gd name="adj" fmla="val 342857"/>
            </a:avLst>
          </a:prstGeom>
          <a:solidFill>
            <a:srgbClr val="1a23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Text 9"/>
          <p:cNvSpPr/>
          <p:nvPr/>
        </p:nvSpPr>
        <p:spPr>
          <a:xfrm>
            <a:off x="3505320" y="1062360"/>
            <a:ext cx="217548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2700" spc="-1" strike="noStrike">
                <a:solidFill>
                  <a:srgbClr val="2d3748"/>
                </a:solidFill>
                <a:latin typeface="Arial"/>
                <a:ea typeface="Arial"/>
              </a:rPr>
              <a:t>🛒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3505320" y="1675800"/>
            <a:ext cx="21754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a237e"/>
                </a:solidFill>
                <a:latin typeface="Arial"/>
                <a:ea typeface="Arial"/>
              </a:rPr>
              <a:t>Add to Cart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3505320" y="1942200"/>
            <a:ext cx="217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Items added to shopping cart with selected variants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5941440" y="910080"/>
            <a:ext cx="23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6b6b"/>
                </a:solidFill>
                <a:latin typeface="Arial"/>
                <a:ea typeface="Arial"/>
              </a:rPr>
              <a:t>→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6324480" y="910080"/>
            <a:ext cx="2437560" cy="1477440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8381880" y="1024200"/>
            <a:ext cx="266040" cy="266040"/>
          </a:xfrm>
          <a:prstGeom prst="roundRect">
            <a:avLst>
              <a:gd name="adj" fmla="val 342857"/>
            </a:avLst>
          </a:prstGeom>
          <a:solidFill>
            <a:srgbClr val="1a23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6477120" y="1135440"/>
            <a:ext cx="217548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2700" spc="-1" strike="noStrike">
                <a:solidFill>
                  <a:srgbClr val="2d3748"/>
                </a:solidFill>
                <a:latin typeface="Arial"/>
                <a:ea typeface="Arial"/>
              </a:rPr>
              <a:t>💳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6477120" y="1748880"/>
            <a:ext cx="21754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a237e"/>
                </a:solidFill>
                <a:latin typeface="Arial"/>
                <a:ea typeface="Arial"/>
              </a:rPr>
              <a:t>Checkout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6477120" y="2015640"/>
            <a:ext cx="2175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Review order and proceed to payment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Image 0" descr="/tmp/rasterized-gradient-0698becb.png"/>
          <p:cNvPicPr/>
          <p:nvPr/>
        </p:nvPicPr>
        <p:blipFill>
          <a:blip r:embed="rId1"/>
          <a:stretch/>
        </p:blipFill>
        <p:spPr>
          <a:xfrm>
            <a:off x="380880" y="2578320"/>
            <a:ext cx="4095000" cy="448920"/>
          </a:xfrm>
          <a:prstGeom prst="rect">
            <a:avLst/>
          </a:prstGeom>
          <a:ln w="0">
            <a:noFill/>
          </a:ln>
        </p:spPr>
      </p:pic>
      <p:sp>
        <p:nvSpPr>
          <p:cNvPr id="76" name="Text 18"/>
          <p:cNvSpPr/>
          <p:nvPr/>
        </p:nvSpPr>
        <p:spPr>
          <a:xfrm>
            <a:off x="514440" y="2711880"/>
            <a:ext cx="3904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💳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Payment Instructions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380880" y="3142080"/>
            <a:ext cx="4095000" cy="1475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f6b6b"/>
            </a:solidFill>
            <a:round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552600" y="3313800"/>
            <a:ext cx="38271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Bank Transfer Details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552600" y="3466080"/>
            <a:ext cx="3752280" cy="847080"/>
          </a:xfrm>
          <a:prstGeom prst="roundRect">
            <a:avLst>
              <a:gd name="adj" fmla="val 6742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552600" y="4313880"/>
            <a:ext cx="382716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i="1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Transfer this amount and click the button below after payment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Image 1" descr="/tmp/rasterized-gradient-1c3f5016.png"/>
          <p:cNvPicPr/>
          <p:nvPr/>
        </p:nvPicPr>
        <p:blipFill>
          <a:blip r:embed="rId2"/>
          <a:stretch/>
        </p:blipFill>
        <p:spPr>
          <a:xfrm>
            <a:off x="4667400" y="2578320"/>
            <a:ext cx="4095000" cy="448920"/>
          </a:xfrm>
          <a:prstGeom prst="rect">
            <a:avLst/>
          </a:prstGeom>
          <a:ln w="0">
            <a:noFill/>
          </a:ln>
        </p:spPr>
      </p:pic>
      <p:sp>
        <p:nvSpPr>
          <p:cNvPr id="82" name="Text 23"/>
          <p:cNvSpPr/>
          <p:nvPr/>
        </p:nvSpPr>
        <p:spPr>
          <a:xfrm>
            <a:off x="4800600" y="2711880"/>
            <a:ext cx="3904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💬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Confirm Payment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4"/>
          <p:cNvSpPr/>
          <p:nvPr/>
        </p:nvSpPr>
        <p:spPr>
          <a:xfrm>
            <a:off x="4667400" y="3142080"/>
            <a:ext cx="4095000" cy="2005200"/>
          </a:xfrm>
          <a:prstGeom prst="roundRect">
            <a:avLst>
              <a:gd name="adj" fmla="val 3799"/>
            </a:avLst>
          </a:prstGeom>
          <a:solidFill>
            <a:srgbClr val="ffffff"/>
          </a:solidFill>
          <a:ln w="19050">
            <a:solidFill>
              <a:srgbClr val="48bb78"/>
            </a:solidFill>
            <a:round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Text 25"/>
          <p:cNvSpPr/>
          <p:nvPr/>
        </p:nvSpPr>
        <p:spPr>
          <a:xfrm>
            <a:off x="4801320" y="3313800"/>
            <a:ext cx="38271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04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2d3748"/>
                </a:solidFill>
                <a:latin typeface="Arial"/>
                <a:ea typeface="Arial"/>
              </a:rPr>
              <a:t>✓</a:t>
            </a:r>
            <a:endParaRPr b="0" lang="en-GB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6"/>
          <p:cNvSpPr/>
          <p:nvPr/>
        </p:nvSpPr>
        <p:spPr>
          <a:xfrm>
            <a:off x="4801320" y="3953520"/>
            <a:ext cx="38271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8bb78"/>
                </a:solidFill>
                <a:latin typeface="Arial"/>
                <a:ea typeface="Arial"/>
              </a:rPr>
              <a:t>Payment Made?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7"/>
          <p:cNvSpPr/>
          <p:nvPr/>
        </p:nvSpPr>
        <p:spPr>
          <a:xfrm>
            <a:off x="4801320" y="4106160"/>
            <a:ext cx="3827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Click the button below to notify us via WhatsApp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8"/>
          <p:cNvSpPr/>
          <p:nvPr/>
        </p:nvSpPr>
        <p:spPr>
          <a:xfrm>
            <a:off x="4838760" y="4252680"/>
            <a:ext cx="3752280" cy="399240"/>
          </a:xfrm>
          <a:prstGeom prst="roundRect">
            <a:avLst>
              <a:gd name="adj" fmla="val 19048"/>
            </a:avLst>
          </a:prstGeom>
          <a:solidFill>
            <a:srgbClr val="25d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Text 29"/>
          <p:cNvSpPr/>
          <p:nvPr/>
        </p:nvSpPr>
        <p:spPr>
          <a:xfrm>
            <a:off x="4838760" y="4652640"/>
            <a:ext cx="3752280" cy="323280"/>
          </a:xfrm>
          <a:prstGeom prst="roundRect">
            <a:avLst>
              <a:gd name="adj" fmla="val 17647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Text 30"/>
          <p:cNvSpPr/>
          <p:nvPr/>
        </p:nvSpPr>
        <p:spPr>
          <a:xfrm>
            <a:off x="4898160" y="4748040"/>
            <a:ext cx="363276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We'll confirm your payment and arrange delivery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1"/>
          <p:cNvSpPr/>
          <p:nvPr/>
        </p:nvSpPr>
        <p:spPr>
          <a:xfrm>
            <a:off x="380880" y="4781520"/>
            <a:ext cx="3556440" cy="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Payment popup appears after checkout | WhatsApp link pre-filled with order details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380880" y="647640"/>
            <a:ext cx="55760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Recommended Technology Stack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Image 0" descr="/tmp/rasterized-gradient-711da7bf.png"/>
          <p:cNvPicPr/>
          <p:nvPr/>
        </p:nvPicPr>
        <p:blipFill>
          <a:blip r:embed="rId1"/>
          <a:stretch/>
        </p:blipFill>
        <p:spPr>
          <a:xfrm>
            <a:off x="380880" y="1657080"/>
            <a:ext cx="4075920" cy="448920"/>
          </a:xfrm>
          <a:prstGeom prst="rect">
            <a:avLst/>
          </a:prstGeom>
          <a:ln w="0">
            <a:noFill/>
          </a:ln>
        </p:spPr>
      </p:pic>
      <p:sp>
        <p:nvSpPr>
          <p:cNvPr id="93" name="Text 1"/>
          <p:cNvSpPr/>
          <p:nvPr/>
        </p:nvSpPr>
        <p:spPr>
          <a:xfrm>
            <a:off x="514440" y="1790280"/>
            <a:ext cx="3885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React (vite) + Node.js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380880" y="2239560"/>
            <a:ext cx="4075920" cy="2160360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Text 3"/>
          <p:cNvSpPr/>
          <p:nvPr/>
        </p:nvSpPr>
        <p:spPr>
          <a:xfrm>
            <a:off x="533520" y="2392200"/>
            <a:ext cx="38466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a237e"/>
                </a:solidFill>
                <a:latin typeface="Arial"/>
                <a:ea typeface="Arial"/>
              </a:rPr>
              <a:t>Why This Stack?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753480" y="2554200"/>
            <a:ext cx="36223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Full Control &amp; Flexibility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753480" y="2746440"/>
            <a:ext cx="36223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Custom payment flow and WhatsApp integration exactly as you want it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753480" y="2892960"/>
            <a:ext cx="36223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Modern &amp; Fast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753480" y="3085200"/>
            <a:ext cx="36223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Lightning-fast page loads and smooth user experience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753480" y="3231720"/>
            <a:ext cx="36223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Easy to Scale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753480" y="3423960"/>
            <a:ext cx="36223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Add new features, product categories, and payment methods anytime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753480" y="3570840"/>
            <a:ext cx="36223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Mobile-Friendly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753480" y="3763080"/>
            <a:ext cx="36223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Perfect on phones, tablets, and desktops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753480" y="3909600"/>
            <a:ext cx="36223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Your Developer Knows It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753480" y="4101840"/>
            <a:ext cx="36223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Faster development with familiar technology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1" descr="/tmp/rasterized-gradient-5ec2cbcd.png"/>
          <p:cNvPicPr/>
          <p:nvPr/>
        </p:nvPicPr>
        <p:blipFill>
          <a:blip r:embed="rId2"/>
          <a:stretch/>
        </p:blipFill>
        <p:spPr>
          <a:xfrm>
            <a:off x="4686480" y="1029240"/>
            <a:ext cx="4075920" cy="448920"/>
          </a:xfrm>
          <a:prstGeom prst="rect">
            <a:avLst/>
          </a:prstGeom>
          <a:ln w="0">
            <a:noFill/>
          </a:ln>
        </p:spPr>
      </p:pic>
      <p:sp>
        <p:nvSpPr>
          <p:cNvPr id="107" name="Text 14"/>
          <p:cNvSpPr/>
          <p:nvPr/>
        </p:nvSpPr>
        <p:spPr>
          <a:xfrm>
            <a:off x="4819680" y="1162440"/>
            <a:ext cx="3885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Other Options (Not Recommended)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4686480" y="1612080"/>
            <a:ext cx="4075920" cy="778320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4838760" y="1778760"/>
            <a:ext cx="18651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WordPress + WooCommerce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4838760" y="1945440"/>
            <a:ext cx="3846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Pros: Quick setup, many plugins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4838760" y="2091960"/>
            <a:ext cx="3846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Cons: Hard to customize payment popup, less flexible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4686480" y="2524320"/>
            <a:ext cx="4075920" cy="778320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4838760" y="2691000"/>
            <a:ext cx="1117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C# ASP.NET MVC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4838760" y="2857680"/>
            <a:ext cx="3846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Pros: Enterprise-grade, powerful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2"/>
          <p:cNvSpPr/>
          <p:nvPr/>
        </p:nvSpPr>
        <p:spPr>
          <a:xfrm>
            <a:off x="4838760" y="3004200"/>
            <a:ext cx="3846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Cons: Too complex for this project, slower development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3"/>
          <p:cNvSpPr/>
          <p:nvPr/>
        </p:nvSpPr>
        <p:spPr>
          <a:xfrm>
            <a:off x="4686480" y="3436560"/>
            <a:ext cx="4075920" cy="778320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Text 24"/>
          <p:cNvSpPr/>
          <p:nvPr/>
        </p:nvSpPr>
        <p:spPr>
          <a:xfrm>
            <a:off x="4838760" y="3603240"/>
            <a:ext cx="15804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Plain HTML + JavaScript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5"/>
          <p:cNvSpPr/>
          <p:nvPr/>
        </p:nvSpPr>
        <p:spPr>
          <a:xfrm>
            <a:off x="4838760" y="3769920"/>
            <a:ext cx="3846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Pros: Simple, lightweight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4838760" y="3916440"/>
            <a:ext cx="3846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Cons: Hard to maintain as site grows, no modern features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7"/>
          <p:cNvSpPr/>
          <p:nvPr/>
        </p:nvSpPr>
        <p:spPr>
          <a:xfrm>
            <a:off x="4686480" y="4348800"/>
            <a:ext cx="4075920" cy="679320"/>
          </a:xfrm>
          <a:prstGeom prst="roundRect">
            <a:avLst>
              <a:gd name="adj" fmla="val 11206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Text 28"/>
          <p:cNvSpPr/>
          <p:nvPr/>
        </p:nvSpPr>
        <p:spPr>
          <a:xfrm>
            <a:off x="4800600" y="4463280"/>
            <a:ext cx="3924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Tech Stack Details: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9"/>
          <p:cNvSpPr/>
          <p:nvPr/>
        </p:nvSpPr>
        <p:spPr>
          <a:xfrm>
            <a:off x="4800600" y="4647960"/>
            <a:ext cx="39243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React, TypeScript, Node.js, Tailwind CSS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49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Database: PostgreSQL or MongoDB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30"/>
          <p:cNvSpPr/>
          <p:nvPr/>
        </p:nvSpPr>
        <p:spPr>
          <a:xfrm>
            <a:off x="380880" y="4781520"/>
            <a:ext cx="2283840" cy="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Based on your requirements and developer expertise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380880" y="774720"/>
            <a:ext cx="49543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Project Timeline &amp; Next Steps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380880" y="1560240"/>
            <a:ext cx="4177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37e"/>
                </a:solidFill>
                <a:latin typeface="Arial"/>
                <a:ea typeface="Arial"/>
              </a:rPr>
              <a:t>Development Timeline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380880" y="1857240"/>
            <a:ext cx="4095000" cy="803160"/>
          </a:xfrm>
          <a:prstGeom prst="roundRect">
            <a:avLst>
              <a:gd name="adj" fmla="val 948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399960" y="1857240"/>
            <a:ext cx="360" cy="803880"/>
          </a:xfrm>
          <a:prstGeom prst="line">
            <a:avLst/>
          </a:prstGeom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571680" y="2009880"/>
            <a:ext cx="563040" cy="208800"/>
          </a:xfrm>
          <a:prstGeom prst="roundRect">
            <a:avLst>
              <a:gd name="adj" fmla="val 18182"/>
            </a:avLst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647640" y="2048040"/>
            <a:ext cx="419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1-2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571680" y="221940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Design &amp; Planning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571680" y="2362320"/>
            <a:ext cx="3827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Mockups, database design, project setup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380880" y="2775600"/>
            <a:ext cx="4095000" cy="803160"/>
          </a:xfrm>
          <a:prstGeom prst="roundRect">
            <a:avLst>
              <a:gd name="adj" fmla="val 948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399960" y="2775240"/>
            <a:ext cx="360" cy="803880"/>
          </a:xfrm>
          <a:prstGeom prst="line">
            <a:avLst/>
          </a:prstGeom>
          <a:ln w="381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571680" y="2927880"/>
            <a:ext cx="563040" cy="208800"/>
          </a:xfrm>
          <a:prstGeom prst="roundRect">
            <a:avLst>
              <a:gd name="adj" fmla="val 18182"/>
            </a:avLst>
          </a:prstGeom>
          <a:solidFill>
            <a:srgbClr val="4fc3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647640" y="2966040"/>
            <a:ext cx="419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3-4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571680" y="313740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Core Development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571680" y="3280320"/>
            <a:ext cx="3827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Product catalog, cart, payment system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380880" y="3693600"/>
            <a:ext cx="4095000" cy="803160"/>
          </a:xfrm>
          <a:prstGeom prst="roundRect">
            <a:avLst>
              <a:gd name="adj" fmla="val 948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399960" y="3693600"/>
            <a:ext cx="360" cy="803520"/>
          </a:xfrm>
          <a:prstGeom prst="line">
            <a:avLst/>
          </a:prstGeom>
          <a:ln w="38100">
            <a:solidFill>
              <a:srgbClr val="48bb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571680" y="3845880"/>
            <a:ext cx="563040" cy="208800"/>
          </a:xfrm>
          <a:prstGeom prst="roundRect">
            <a:avLst>
              <a:gd name="adj" fmla="val 18182"/>
            </a:avLst>
          </a:prstGeom>
          <a:solidFill>
            <a:srgbClr val="48b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647640" y="3884040"/>
            <a:ext cx="419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5-6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571680" y="405540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Testing &amp; Launch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571680" y="4198320"/>
            <a:ext cx="3827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WhatsApp integration, testing, go live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0" descr="/tmp/rasterized-gradient-dda15d5f.png"/>
          <p:cNvPicPr/>
          <p:nvPr/>
        </p:nvPicPr>
        <p:blipFill>
          <a:blip r:embed="rId1"/>
          <a:stretch/>
        </p:blipFill>
        <p:spPr>
          <a:xfrm>
            <a:off x="4667400" y="1422360"/>
            <a:ext cx="4095000" cy="666000"/>
          </a:xfrm>
          <a:prstGeom prst="rect">
            <a:avLst/>
          </a:prstGeom>
          <a:ln w="0">
            <a:noFill/>
          </a:ln>
        </p:spPr>
      </p:pic>
      <p:sp>
        <p:nvSpPr>
          <p:cNvPr id="145" name="Text 20"/>
          <p:cNvSpPr/>
          <p:nvPr/>
        </p:nvSpPr>
        <p:spPr>
          <a:xfrm>
            <a:off x="4762440" y="1555560"/>
            <a:ext cx="3904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4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Ready to Start?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1"/>
          <p:cNvSpPr/>
          <p:nvPr/>
        </p:nvSpPr>
        <p:spPr>
          <a:xfrm>
            <a:off x="4762440" y="1795680"/>
            <a:ext cx="390492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>
                    <a:alpha val="90000"/>
                  </a:srgbClr>
                </a:solidFill>
                <a:latin typeface="Arial"/>
                <a:ea typeface="Arial"/>
              </a:rPr>
              <a:t>Let's build your online store!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4667400" y="2203200"/>
            <a:ext cx="4095000" cy="1335960"/>
          </a:xfrm>
          <a:prstGeom prst="roundRect">
            <a:avLst>
              <a:gd name="adj" fmla="val 570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Text 23"/>
          <p:cNvSpPr/>
          <p:nvPr/>
        </p:nvSpPr>
        <p:spPr>
          <a:xfrm>
            <a:off x="4819680" y="2355480"/>
            <a:ext cx="386604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What You'll Get: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4"/>
          <p:cNvSpPr/>
          <p:nvPr/>
        </p:nvSpPr>
        <p:spPr>
          <a:xfrm>
            <a:off x="4819680" y="2508120"/>
            <a:ext cx="3866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Product catalog with variants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5"/>
          <p:cNvSpPr/>
          <p:nvPr/>
        </p:nvSpPr>
        <p:spPr>
          <a:xfrm>
            <a:off x="4819680" y="2654640"/>
            <a:ext cx="3866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Shopping cart &amp; checkout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6"/>
          <p:cNvSpPr/>
          <p:nvPr/>
        </p:nvSpPr>
        <p:spPr>
          <a:xfrm>
            <a:off x="4819680" y="2801160"/>
            <a:ext cx="3866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Payment popup system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7"/>
          <p:cNvSpPr/>
          <p:nvPr/>
        </p:nvSpPr>
        <p:spPr>
          <a:xfrm>
            <a:off x="4819680" y="2947680"/>
            <a:ext cx="3866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WhatsApp integration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8"/>
          <p:cNvSpPr/>
          <p:nvPr/>
        </p:nvSpPr>
        <p:spPr>
          <a:xfrm>
            <a:off x="4819680" y="3094560"/>
            <a:ext cx="3866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Mobile-responsive design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9"/>
          <p:cNvSpPr/>
          <p:nvPr/>
        </p:nvSpPr>
        <p:spPr>
          <a:xfrm>
            <a:off x="4819680" y="3241080"/>
            <a:ext cx="3866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Admin panel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30"/>
          <p:cNvSpPr/>
          <p:nvPr/>
        </p:nvSpPr>
        <p:spPr>
          <a:xfrm>
            <a:off x="4667400" y="3654360"/>
            <a:ext cx="4095000" cy="980280"/>
          </a:xfrm>
          <a:prstGeom prst="roundRect">
            <a:avLst>
              <a:gd name="adj" fmla="val 7767"/>
            </a:avLst>
          </a:prstGeom>
          <a:solidFill>
            <a:srgbClr val="f5f7fa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Text 31"/>
          <p:cNvSpPr/>
          <p:nvPr/>
        </p:nvSpPr>
        <p:spPr>
          <a:xfrm>
            <a:off x="4819680" y="3806640"/>
            <a:ext cx="386604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Next Steps: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2"/>
          <p:cNvSpPr/>
          <p:nvPr/>
        </p:nvSpPr>
        <p:spPr>
          <a:xfrm>
            <a:off x="4819680" y="3949560"/>
            <a:ext cx="3866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1. Approve proposal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3"/>
          <p:cNvSpPr/>
          <p:nvPr/>
        </p:nvSpPr>
        <p:spPr>
          <a:xfrm>
            <a:off x="4819680" y="4083120"/>
            <a:ext cx="3866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2. Provide product images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4"/>
          <p:cNvSpPr/>
          <p:nvPr/>
        </p:nvSpPr>
        <p:spPr>
          <a:xfrm>
            <a:off x="4819680" y="4216320"/>
            <a:ext cx="3866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3. Share bank details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5"/>
          <p:cNvSpPr/>
          <p:nvPr/>
        </p:nvSpPr>
        <p:spPr>
          <a:xfrm>
            <a:off x="4819680" y="4349520"/>
            <a:ext cx="3866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4. We start development!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36"/>
          <p:cNvSpPr/>
          <p:nvPr/>
        </p:nvSpPr>
        <p:spPr>
          <a:xfrm>
            <a:off x="380880" y="4781520"/>
            <a:ext cx="2809800" cy="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Timeline may vary based on feedback | Questions? Let's discuss!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37"/>
          <p:cNvSpPr/>
          <p:nvPr/>
        </p:nvSpPr>
        <p:spPr>
          <a:xfrm>
            <a:off x="380880" y="774720"/>
            <a:ext cx="49543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Dependencies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8"/>
          <p:cNvSpPr/>
          <p:nvPr/>
        </p:nvSpPr>
        <p:spPr>
          <a:xfrm>
            <a:off x="380880" y="1560240"/>
            <a:ext cx="4177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399960" y="3729240"/>
            <a:ext cx="360" cy="803880"/>
          </a:xfrm>
          <a:prstGeom prst="line">
            <a:avLst/>
          </a:prstGeom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2"/>
          <p:cNvSpPr/>
          <p:nvPr/>
        </p:nvSpPr>
        <p:spPr>
          <a:xfrm>
            <a:off x="576720" y="187200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Domain Name Registration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399960" y="2775240"/>
            <a:ext cx="360" cy="803880"/>
          </a:xfrm>
          <a:prstGeom prst="line">
            <a:avLst/>
          </a:prstGeom>
          <a:ln w="381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6"/>
          <p:cNvSpPr/>
          <p:nvPr/>
        </p:nvSpPr>
        <p:spPr>
          <a:xfrm>
            <a:off x="647640" y="2966040"/>
            <a:ext cx="419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3-4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51"/>
          <p:cNvSpPr/>
          <p:nvPr/>
        </p:nvSpPr>
        <p:spPr>
          <a:xfrm>
            <a:off x="647640" y="3884040"/>
            <a:ext cx="419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5-6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54"/>
          <p:cNvSpPr/>
          <p:nvPr/>
        </p:nvSpPr>
        <p:spPr>
          <a:xfrm>
            <a:off x="4762440" y="1555560"/>
            <a:ext cx="3904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4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Ready to Start?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70"/>
          <p:cNvSpPr/>
          <p:nvPr/>
        </p:nvSpPr>
        <p:spPr>
          <a:xfrm>
            <a:off x="380880" y="4781520"/>
            <a:ext cx="2809800" cy="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Timeline may vary based on feedback | Questions? Let's discuss!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39"/>
          <p:cNvSpPr/>
          <p:nvPr/>
        </p:nvSpPr>
        <p:spPr>
          <a:xfrm>
            <a:off x="576720" y="244800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1"/>
          <p:cNvSpPr/>
          <p:nvPr/>
        </p:nvSpPr>
        <p:spPr>
          <a:xfrm>
            <a:off x="576720" y="2125440"/>
            <a:ext cx="46432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Hosting                                                                Name cheap / Whogohost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3"/>
          <p:cNvSpPr/>
          <p:nvPr/>
        </p:nvSpPr>
        <p:spPr>
          <a:xfrm>
            <a:off x="576720" y="234000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Development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0"/>
          <p:cNvSpPr/>
          <p:nvPr/>
        </p:nvSpPr>
        <p:spPr>
          <a:xfrm>
            <a:off x="576720" y="252252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Deployment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44"/>
          <p:cNvSpPr/>
          <p:nvPr/>
        </p:nvSpPr>
        <p:spPr>
          <a:xfrm>
            <a:off x="3249720" y="183348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stanzoe.com (</a:t>
            </a: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 Name cheap / Whogohost)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540000" y="3060000"/>
            <a:ext cx="2967120" cy="144000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2"/>
          <a:stretch/>
        </p:blipFill>
        <p:spPr>
          <a:xfrm>
            <a:off x="3873240" y="3060000"/>
            <a:ext cx="2966760" cy="1440000"/>
          </a:xfrm>
          <a:prstGeom prst="rect">
            <a:avLst/>
          </a:prstGeom>
          <a:ln w="0">
            <a:noFill/>
          </a:ln>
        </p:spPr>
      </p:pic>
      <p:sp>
        <p:nvSpPr>
          <p:cNvPr id="178" name="Shape 4"/>
          <p:cNvSpPr/>
          <p:nvPr/>
        </p:nvSpPr>
        <p:spPr>
          <a:xfrm>
            <a:off x="400320" y="1857600"/>
            <a:ext cx="360" cy="803880"/>
          </a:xfrm>
          <a:prstGeom prst="line">
            <a:avLst/>
          </a:prstGeom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45"/>
          <p:cNvSpPr/>
          <p:nvPr/>
        </p:nvSpPr>
        <p:spPr>
          <a:xfrm>
            <a:off x="380880" y="774720"/>
            <a:ext cx="49543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Dependencies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47"/>
          <p:cNvSpPr/>
          <p:nvPr/>
        </p:nvSpPr>
        <p:spPr>
          <a:xfrm>
            <a:off x="380880" y="1560240"/>
            <a:ext cx="4177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5"/>
          <p:cNvSpPr/>
          <p:nvPr/>
        </p:nvSpPr>
        <p:spPr>
          <a:xfrm>
            <a:off x="399960" y="3729240"/>
            <a:ext cx="360" cy="803880"/>
          </a:xfrm>
          <a:prstGeom prst="line">
            <a:avLst/>
          </a:prstGeom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48"/>
          <p:cNvSpPr/>
          <p:nvPr/>
        </p:nvSpPr>
        <p:spPr>
          <a:xfrm>
            <a:off x="576720" y="187200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Domain Name Registration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399960" y="2775240"/>
            <a:ext cx="360" cy="803880"/>
          </a:xfrm>
          <a:prstGeom prst="line">
            <a:avLst/>
          </a:prstGeom>
          <a:ln w="381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49"/>
          <p:cNvSpPr/>
          <p:nvPr/>
        </p:nvSpPr>
        <p:spPr>
          <a:xfrm>
            <a:off x="647640" y="2966040"/>
            <a:ext cx="419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3-4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50"/>
          <p:cNvSpPr/>
          <p:nvPr/>
        </p:nvSpPr>
        <p:spPr>
          <a:xfrm>
            <a:off x="647640" y="3884040"/>
            <a:ext cx="4190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5-6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52"/>
          <p:cNvSpPr/>
          <p:nvPr/>
        </p:nvSpPr>
        <p:spPr>
          <a:xfrm>
            <a:off x="4762440" y="1555560"/>
            <a:ext cx="3904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4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Ready to Start?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53"/>
          <p:cNvSpPr/>
          <p:nvPr/>
        </p:nvSpPr>
        <p:spPr>
          <a:xfrm>
            <a:off x="380880" y="4781520"/>
            <a:ext cx="2809800" cy="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Timeline may vary based on feedback | Questions? Let's discuss!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55"/>
          <p:cNvSpPr/>
          <p:nvPr/>
        </p:nvSpPr>
        <p:spPr>
          <a:xfrm>
            <a:off x="576720" y="244800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56"/>
          <p:cNvSpPr/>
          <p:nvPr/>
        </p:nvSpPr>
        <p:spPr>
          <a:xfrm>
            <a:off x="576720" y="2125440"/>
            <a:ext cx="46432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Hosting                                                                Render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57"/>
          <p:cNvSpPr/>
          <p:nvPr/>
        </p:nvSpPr>
        <p:spPr>
          <a:xfrm>
            <a:off x="576720" y="234000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Development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59"/>
          <p:cNvSpPr/>
          <p:nvPr/>
        </p:nvSpPr>
        <p:spPr>
          <a:xfrm>
            <a:off x="3249720" y="1833480"/>
            <a:ext cx="3827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stanzoe.com (</a:t>
            </a: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 Name cheap / Whogohost)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400320" y="1857600"/>
            <a:ext cx="360" cy="803880"/>
          </a:xfrm>
          <a:prstGeom prst="line">
            <a:avLst/>
          </a:prstGeom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483840" y="2700000"/>
            <a:ext cx="3836160" cy="186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2025-12-14T15:09:13Z</dcterms:created>
  <dc:creator>E-Commerce Proposal</dc:creator>
  <dc:description/>
  <dc:language>en-GB</dc:language>
  <cp:lastModifiedBy/>
  <dcterms:modified xsi:type="dcterms:W3CDTF">2026-02-15T20:14:38Z</dcterms:modified>
  <cp:revision>3</cp:revision>
  <dc:subject>PptxGenJS Presentation</dc:subject>
  <dc:title>Online Store Proposal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